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70" r:id="rId5"/>
    <p:sldId id="265" r:id="rId6"/>
    <p:sldId id="267" r:id="rId7"/>
    <p:sldId id="268" r:id="rId8"/>
    <p:sldId id="262" r:id="rId9"/>
    <p:sldId id="271" r:id="rId10"/>
    <p:sldId id="263" r:id="rId11"/>
    <p:sldId id="264" r:id="rId12"/>
    <p:sldId id="25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18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32"/>
  </p:normalViewPr>
  <p:slideViewPr>
    <p:cSldViewPr snapToGrid="0">
      <p:cViewPr varScale="1">
        <p:scale>
          <a:sx n="63" d="100"/>
          <a:sy n="63" d="100"/>
        </p:scale>
        <p:origin x="-51" y="-24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FA14D75-7094-767C-F696-163DA0631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olos Text" panose="020B0503020202020204" pitchFamily="34" charset="0"/>
                <a:ea typeface="Golos Text" panose="020B050302020202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56704547-04D0-4D38-DB77-B43D52ABB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8824416-E8F9-61EF-E6D1-BC2B4BAD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pPr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75AA014-56BF-40CB-39F2-DC33F3AF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DD8BC4B-DA57-1DC8-6D9D-53969507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3734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5F11257-CAF6-47B5-D2A5-6F48CB2F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4E04584-D55D-5002-3CFB-92ECEBCB8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F6E326A-0D2A-7537-95A3-F838AF0C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pPr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ADFF1308-8060-D862-3F8E-C9209AB0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12E7770-AC08-478A-2DFC-52CA9BC09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8852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B8B72F2-D5B8-B308-E7BA-AA2D2C0E3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4BF9E6FA-8BED-62C4-EA10-DFDD2C17C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E879B11-A705-E38C-760B-49584E60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pPr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62B70AE-75DF-8572-5095-F5DCD3D7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58ACFDE-55D1-781E-AC17-12F8511B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6965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6C6F225-3DC8-CCAA-3314-17B0B9811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6960A77-1953-B756-F038-C2AD0481D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17C4E49E-93B8-3A24-2205-E54E59C36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6E88382C-B13D-FC98-5410-E562E82F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pPr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CF7C28D2-B037-A94E-1A85-76995C9F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DC7B33AD-36F7-1833-97AA-C005F727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020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F43EFB5-579F-BE0B-166C-50426ED7F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1F83B45-78DE-0567-0995-1A1C751CA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03D1D42A-C580-082A-A23E-0DD0CB0D4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7C7575B3-47F7-7043-1A19-2CADAAA5A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60853BBA-EB99-E6BB-45E2-225CC5E89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114AD746-157B-488B-A4A4-B12DD945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pPr/>
              <a:t>15.07.2026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32FFA9D4-4769-94B0-4630-BB70AD74F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AA310FFB-2D2C-0B90-4ED6-F54BE2F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049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63671BE-F29D-7143-B2C0-E41BFD68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99B13310-D4EB-4448-E040-D406C2B3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pPr/>
              <a:t>15.07.2026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3922AFDA-E23B-F6DC-0074-86E450354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D043832A-200E-F2C9-2D80-B185CF13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0063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7798E6E3-17C8-654A-2ED8-A2DBD947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pPr/>
              <a:t>15.07.2026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BE972E5A-A91E-F858-AAC8-6831E0DE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E03696D1-D4AF-3353-A158-31EF3C3C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3738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66FD9AD-84DC-EAF1-4A37-28B053D5D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B92A09D-B4BE-6AD7-26D0-490F3B093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7142F5F4-3B1B-A795-36FE-C6B5DBBBB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97D14E4-61DE-FBE9-79AC-AF0981CCC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pPr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2238B01F-825D-1209-3206-3ED34A23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E2E1DCBD-DCDB-9BE6-A14D-41FA544B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6649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95EC7E9-28C4-918A-5FBE-2F6FA8566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78A22047-5CE4-09F7-7296-126A89887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38CFEB5-6122-7E07-B156-6DEC0F798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58136853-2C93-9518-7229-5FAF7CBA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pPr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FD2FCEA4-DC7F-6683-C79D-DCB54162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0F55E2CF-EAC4-6261-EAF3-7A33BA81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5569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5C986E0-902E-3707-6F09-5208A5A1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908853C4-83F9-00EB-13F2-004171E0C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402B9AD-F7CC-DC3E-D98C-E2CBB6A6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pPr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835AED8-859D-C7BA-D8B4-3C052B25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57D5590-FA44-FA25-32A7-187D79A3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8022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30A6162F-0CEA-89D5-C5BC-AFAF0D665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01520F03-9C3B-1511-C6F4-0174F6678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0DA9F2B-975E-9F5A-EB9C-1CBFBA4F6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pPr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66239FE-BEE0-7F3E-DDFD-331E63DB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12CFCA3-4959-96FA-D1A1-32AE64E0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51719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F4B8F61-F8FD-2E11-52B5-535412FA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CA7468CD-D4E7-208A-1469-156E1DA05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C493BCF-6C7A-9183-FCD5-EF960E897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A3099-0E2E-404F-AC88-0DAC237DA2CA}" type="datetimeFigureOut">
              <a:rPr lang="ru-RU" smtClean="0"/>
              <a:pPr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1317AE4-1A8E-3EF8-C946-B3600AF0F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A1697FD-5E73-4CFC-DCA4-B7A933533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75F6E-18E3-C843-9FEA-3A2B6C50C8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5839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Golos Text DemiBold" panose="020B0503020202020204" pitchFamily="34" charset="0"/>
          <a:ea typeface="Golos Text DemiBold" panose="020B0503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CAA3A7DE-9454-3205-A880-5CE67D6E8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5430"/>
            <a:ext cx="848531" cy="1935538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C16E39A8-88E6-3DA1-B9A7-9D4886DCD160}"/>
              </a:ext>
            </a:extLst>
          </p:cNvPr>
          <p:cNvSpPr/>
          <p:nvPr/>
        </p:nvSpPr>
        <p:spPr>
          <a:xfrm>
            <a:off x="0" y="3923818"/>
            <a:ext cx="12191999" cy="3035401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B14D7EF9-463E-3F60-540D-9EF951770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327" y="1362850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2FC655D-C2BD-9061-29D1-33ABB82E3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443" y="4249041"/>
            <a:ext cx="9144000" cy="1714723"/>
          </a:xfrm>
        </p:spPr>
        <p:txBody>
          <a:bodyPr>
            <a:normAutofit fontScale="90000"/>
          </a:bodyPr>
          <a:lstStyle/>
          <a:p>
            <a:pPr algn="l"/>
            <a:r>
              <a:rPr lang="ru-RU" sz="4800" dirty="0" smtClean="0">
                <a:solidFill>
                  <a:schemeClr val="bg1"/>
                </a:solidFill>
              </a:rPr>
              <a:t>Прикладной искусственный интеллект в системах умного дома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08284915-241E-8EE1-802E-3993741DF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443" y="6116881"/>
            <a:ext cx="10572022" cy="65885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ru-RU" dirty="0" smtClean="0">
                <a:solidFill>
                  <a:schemeClr val="bg1"/>
                </a:solidFill>
              </a:rPr>
              <a:t>Группа 7. Докладчик</a:t>
            </a:r>
            <a:r>
              <a:rPr lang="ru-RU" dirty="0" smtClean="0">
                <a:solidFill>
                  <a:schemeClr val="bg1"/>
                </a:solidFill>
              </a:rPr>
              <a:t>: Усачёв Александр </a:t>
            </a:r>
            <a:r>
              <a:rPr lang="ru-RU" dirty="0" smtClean="0">
                <a:solidFill>
                  <a:schemeClr val="bg1"/>
                </a:solidFill>
              </a:rPr>
              <a:t>Владимирович. Состав группы: </a:t>
            </a:r>
            <a:r>
              <a:rPr lang="ru-RU" dirty="0" err="1" smtClean="0">
                <a:solidFill>
                  <a:schemeClr val="bg1"/>
                </a:solidFill>
              </a:rPr>
              <a:t>Юманова</a:t>
            </a:r>
            <a:r>
              <a:rPr lang="ru-RU" dirty="0" smtClean="0">
                <a:solidFill>
                  <a:schemeClr val="bg1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Ирина </a:t>
            </a:r>
            <a:r>
              <a:rPr lang="ru-RU" dirty="0" err="1" smtClean="0">
                <a:solidFill>
                  <a:schemeClr val="bg1"/>
                </a:solidFill>
              </a:rPr>
              <a:t>Фарисовна</a:t>
            </a:r>
            <a:r>
              <a:rPr lang="ru-RU" dirty="0" smtClean="0">
                <a:solidFill>
                  <a:schemeClr val="bg1"/>
                </a:solidFill>
              </a:rPr>
              <a:t>; Матвеев Андрей Викторович; Баев Алексей Александрович; Миронов Владимир Олегович; Муратов Евгений </a:t>
            </a:r>
            <a:r>
              <a:rPr lang="ru-RU" dirty="0" err="1" smtClean="0">
                <a:solidFill>
                  <a:schemeClr val="bg1"/>
                </a:solidFill>
              </a:rPr>
              <a:t>Рашитович</a:t>
            </a:r>
            <a:r>
              <a:rPr lang="ru-RU" dirty="0" smtClean="0">
                <a:solidFill>
                  <a:schemeClr val="bg1"/>
                </a:solidFill>
              </a:rPr>
              <a:t>; Могилевская Надежда Сергеевна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1455776-F093-4AF3-E008-4E649B75E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43" y="386289"/>
            <a:ext cx="5322298" cy="329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9F84394D-C7A5-E8B6-4037-C5DF07756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323" y="391785"/>
            <a:ext cx="1692234" cy="329894"/>
          </a:xfrm>
          <a:prstGeom prst="rect">
            <a:avLst/>
          </a:prstGeom>
        </p:spPr>
      </p:pic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xmlns="" id="{D2CF0753-6B81-2CC5-533F-5F048D407D72}"/>
              </a:ext>
            </a:extLst>
          </p:cNvPr>
          <p:cNvSpPr txBox="1">
            <a:spLocks/>
          </p:cNvSpPr>
          <p:nvPr/>
        </p:nvSpPr>
        <p:spPr>
          <a:xfrm>
            <a:off x="676443" y="3010968"/>
            <a:ext cx="9144000" cy="908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</a:t>
            </a:r>
            <a:b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</a:br>
            <a: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на топ-уровне: системное видение</a:t>
            </a:r>
            <a:endParaRPr lang="ru-RU" b="1" dirty="0">
              <a:solidFill>
                <a:srgbClr val="014189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8674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041" y="1795181"/>
            <a:ext cx="10118912" cy="600373"/>
          </a:xfrm>
        </p:spPr>
        <p:txBody>
          <a:bodyPr>
            <a:normAutofit fontScale="90000"/>
          </a:bodyPr>
          <a:lstStyle/>
          <a:p>
            <a:pPr algn="just"/>
            <a:r>
              <a:rPr lang="ru-RU" sz="3600" dirty="0" smtClean="0"/>
              <a:t>Цель: </a:t>
            </a:r>
            <a:r>
              <a:rPr lang="ru-RU" sz="2200" dirty="0" smtClean="0"/>
              <a:t>Обучающийся </a:t>
            </a:r>
            <a:r>
              <a:rPr lang="ru-RU" sz="2200" dirty="0" smtClean="0"/>
              <a:t>должен быть способен </a:t>
            </a:r>
            <a:r>
              <a:rPr lang="ru-RU" sz="2200" dirty="0" smtClean="0"/>
              <a:t>в составе междисциплинарной команды самостоятельно спроектировать, реализовать и проверить прототип интеллектуальной функции умного дома, включающий получение сенсорных данных, применение модели ИИ, интеграцию с исполнительным устройством или домашним роботом, оценку качества и обеспечение безопасного контроля человеком.</a:t>
            </a: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A1CF8BE-7C18-E6DA-2E1B-B7B81CCA4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3505"/>
            <a:ext cx="10477500" cy="3003457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dirty="0" smtClean="0"/>
              <a:t>Образовательный </a:t>
            </a:r>
            <a:r>
              <a:rPr lang="ru-RU" dirty="0" smtClean="0"/>
              <a:t>результат</a:t>
            </a:r>
          </a:p>
          <a:p>
            <a:pPr algn="just"/>
            <a:r>
              <a:rPr lang="ru-RU" dirty="0" smtClean="0"/>
              <a:t>Прототип интеллектуальной функции умного дома, реализующий полный цикл от получения данных до физического или симулированного действия</a:t>
            </a:r>
          </a:p>
          <a:p>
            <a:pPr algn="just">
              <a:buNone/>
            </a:pPr>
            <a:r>
              <a:rPr lang="ru-RU" dirty="0" smtClean="0"/>
              <a:t> </a:t>
            </a:r>
          </a:p>
          <a:p>
            <a:pPr algn="just">
              <a:buNone/>
            </a:pPr>
            <a:r>
              <a:rPr lang="ru-RU" dirty="0" smtClean="0"/>
              <a:t>Целевая аудитория</a:t>
            </a:r>
          </a:p>
          <a:p>
            <a:pPr algn="just"/>
            <a:r>
              <a:rPr lang="ru-RU" dirty="0" smtClean="0"/>
              <a:t>Программисты, электронщики, специалисты по автоматике, проектировщики, строители, архитекторы и другие обучающиеся инженерных направлений</a:t>
            </a: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xmlns="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5875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xmlns="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0" y="719666"/>
          <a:ext cx="12192000" cy="6138334"/>
        </p:xfrm>
        <a:graphic>
          <a:graphicData uri="http://schemas.openxmlformats.org/drawingml/2006/table">
            <a:tbl>
              <a:tblPr/>
              <a:tblGrid>
                <a:gridCol w="4064000"/>
                <a:gridCol w="4064000"/>
                <a:gridCol w="4064000"/>
              </a:tblGrid>
              <a:tr h="292302">
                <a:tc>
                  <a:txBody>
                    <a:bodyPr/>
                    <a:lstStyle/>
                    <a:p>
                      <a:r>
                        <a:rPr lang="ru-RU" sz="1200" dirty="0"/>
                        <a:t>Предшествующая дисциплина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Входная компетенция и индикатор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Требуемый уровень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3390">
                <a:tc>
                  <a:txBody>
                    <a:bodyPr/>
                    <a:lstStyle/>
                    <a:p>
                      <a:r>
                        <a:rPr lang="ru-RU" sz="1200" b="1" dirty="0"/>
                        <a:t>Математические основы ИИ / Теория вероятностей и математическая статистика</a:t>
                      </a:r>
                      <a:endParaRPr lang="ru-RU" sz="1200" dirty="0"/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MF-1:</a:t>
                      </a:r>
                      <a:r>
                        <a:rPr lang="ru-RU" sz="1200" dirty="0"/>
                        <a:t> применяет базовый аппарат вероятности, статистики и оценки качества для анализа данных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Б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8118">
                <a:tc>
                  <a:txBody>
                    <a:bodyPr/>
                    <a:lstStyle/>
                    <a:p>
                      <a:r>
                        <a:rPr lang="ru-RU" sz="1200" b="1" dirty="0"/>
                        <a:t>Основы программирования / </a:t>
                      </a:r>
                      <a:r>
                        <a:rPr lang="en-US" sz="1200" b="1" dirty="0"/>
                        <a:t>Python</a:t>
                      </a:r>
                      <a:endParaRPr lang="en-US" sz="1200" dirty="0"/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PL-1.2:</a:t>
                      </a:r>
                      <a:r>
                        <a:rPr lang="ru-RU" sz="1200" dirty="0"/>
                        <a:t> разрабатывает и отлаживает простые прикладные решения с использованием </a:t>
                      </a:r>
                      <a:r>
                        <a:rPr lang="ru-RU" sz="1200" dirty="0" err="1"/>
                        <a:t>Python</a:t>
                      </a:r>
                      <a:endParaRPr lang="ru-RU" sz="1200" dirty="0"/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Б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3390">
                <a:tc>
                  <a:txBody>
                    <a:bodyPr/>
                    <a:lstStyle/>
                    <a:p>
                      <a:r>
                        <a:rPr lang="ru-RU" sz="1200" b="1"/>
                        <a:t>Анализ данных</a:t>
                      </a:r>
                      <a:endParaRPr lang="ru-RU" sz="1200"/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BD-1.1:</a:t>
                      </a:r>
                      <a:r>
                        <a:rPr lang="ru-RU" sz="1200" dirty="0"/>
                        <a:t> применяет методы предварительного анализа, очистки и преобразования данных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Б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8118">
                <a:tc>
                  <a:txBody>
                    <a:bodyPr/>
                    <a:lstStyle/>
                    <a:p>
                      <a:r>
                        <a:rPr lang="ru-RU" sz="1200" b="1"/>
                        <a:t>Введение в машинное обучение</a:t>
                      </a:r>
                      <a:endParaRPr lang="ru-RU" sz="1200"/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ML-2.1:</a:t>
                      </a:r>
                      <a:r>
                        <a:rPr lang="ru-RU" sz="1200" dirty="0"/>
                        <a:t> обосновывает выбор базового метода машинного обучения для поставленной задачи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Б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3390">
                <a:tc>
                  <a:txBody>
                    <a:bodyPr/>
                    <a:lstStyle/>
                    <a:p>
                      <a:r>
                        <a:rPr lang="ru-RU" sz="1200" b="1"/>
                        <a:t>Введение в машинное обучение</a:t>
                      </a:r>
                      <a:endParaRPr lang="ru-RU" sz="1200"/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ML-2.2:</a:t>
                      </a:r>
                      <a:r>
                        <a:rPr lang="ru-RU" sz="1200" dirty="0"/>
                        <a:t> применяет стандартные модели классификации, регрессии, кластеризации или поиска аномалий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Б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2846">
                <a:tc>
                  <a:txBody>
                    <a:bodyPr/>
                    <a:lstStyle/>
                    <a:p>
                      <a:r>
                        <a:rPr lang="ru-RU" sz="1200" b="1"/>
                        <a:t>Базы данных</a:t>
                      </a:r>
                      <a:endParaRPr lang="ru-RU" sz="1200"/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BD-3.1:</a:t>
                      </a:r>
                      <a:r>
                        <a:rPr lang="ru-RU" sz="1200" dirty="0"/>
                        <a:t> выбирает и применяет базовую технологию хранения и доступа к данным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Б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8118">
                <a:tc>
                  <a:txBody>
                    <a:bodyPr/>
                    <a:lstStyle/>
                    <a:p>
                      <a:r>
                        <a:rPr lang="ru-RU" sz="1200" b="1"/>
                        <a:t>Основы нейронных сетей</a:t>
                      </a:r>
                      <a:endParaRPr lang="ru-RU" sz="1200"/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DL-1.1:</a:t>
                      </a:r>
                      <a:r>
                        <a:rPr lang="ru-RU" sz="1200" dirty="0"/>
                        <a:t> выбирает и применяет готовую </a:t>
                      </a:r>
                      <a:r>
                        <a:rPr lang="ru-RU" sz="1200" dirty="0" err="1"/>
                        <a:t>нейросетевую</a:t>
                      </a:r>
                      <a:r>
                        <a:rPr lang="ru-RU" sz="1200" dirty="0"/>
                        <a:t> модель для типовой прикладной задачи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Б</a:t>
                      </a:r>
                      <a:endParaRPr lang="ru-RU" sz="1200" dirty="0"/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18662">
                <a:tc>
                  <a:txBody>
                    <a:bodyPr/>
                    <a:lstStyle/>
                    <a:p>
                      <a:r>
                        <a:rPr lang="ru-RU" sz="1200" b="1"/>
                        <a:t>Основы IoT, вычислительных сетей, микроконтроллеров или автоматизации</a:t>
                      </a:r>
                      <a:endParaRPr lang="ru-RU" sz="1200"/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Предметный пререквизит ОПД: понимает назначение сенсоров, исполнительных устройств и сетевого обмена</a:t>
                      </a:r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Б</a:t>
                      </a:r>
                      <a:endParaRPr lang="ru-RU" sz="1200" dirty="0"/>
                    </a:p>
                  </a:txBody>
                  <a:tcPr marL="36862" marR="36862" marT="18431" marB="184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Пререквизиты в логике КРМ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5875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xmlns="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Пререквизиты в логике КРМ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94130" y="712694"/>
          <a:ext cx="12008223" cy="6145306"/>
        </p:xfrm>
        <a:graphic>
          <a:graphicData uri="http://schemas.openxmlformats.org/drawingml/2006/table">
            <a:tbl>
              <a:tblPr/>
              <a:tblGrid>
                <a:gridCol w="4015964"/>
                <a:gridCol w="3494409"/>
                <a:gridCol w="4497850"/>
              </a:tblGrid>
              <a:tr h="404296">
                <a:tc>
                  <a:txBody>
                    <a:bodyPr/>
                    <a:lstStyle/>
                    <a:p>
                      <a:r>
                        <a:rPr lang="ru-RU" sz="1200" dirty="0"/>
                        <a:t>Последующая дисциплина или вид деятельности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Развиваемые компетенции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Направление роста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6874">
                <a:tc>
                  <a:txBody>
                    <a:bodyPr/>
                    <a:lstStyle/>
                    <a:p>
                      <a:r>
                        <a:rPr lang="en-US" sz="1200" b="1" dirty="0"/>
                        <a:t>Edge AI </a:t>
                      </a:r>
                      <a:r>
                        <a:rPr lang="ru-RU" sz="1200" b="1" dirty="0"/>
                        <a:t>и </a:t>
                      </a:r>
                      <a:r>
                        <a:rPr lang="en-US" sz="1200" b="1" dirty="0" err="1"/>
                        <a:t>TinyML</a:t>
                      </a:r>
                      <a:endParaRPr lang="en-US" sz="1200" dirty="0"/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DL-1, LC-3, LC-6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от применения готовой модели к её оптимизации и промышленному развёртыванию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6874">
                <a:tc>
                  <a:txBody>
                    <a:bodyPr/>
                    <a:lstStyle/>
                    <a:p>
                      <a:r>
                        <a:rPr lang="ru-RU" sz="1200" b="1" dirty="0"/>
                        <a:t>Робототехника и автономные системы</a:t>
                      </a:r>
                      <a:endParaRPr lang="ru-RU" sz="1200" dirty="0"/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ML-4, O-2, LC-3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от простого управляющего агента к планированию и автономному поведению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6874">
                <a:tc>
                  <a:txBody>
                    <a:bodyPr/>
                    <a:lstStyle/>
                    <a:p>
                      <a:r>
                        <a:rPr lang="ru-RU" sz="1200" b="1" dirty="0"/>
                        <a:t>Компьютерное зрение</a:t>
                      </a:r>
                      <a:endParaRPr lang="ru-RU" sz="1200" dirty="0"/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DL-3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от применения предобученной модели к разработке полноценного CV-пайплайна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6874">
                <a:tc>
                  <a:txBody>
                    <a:bodyPr/>
                    <a:lstStyle/>
                    <a:p>
                      <a:r>
                        <a:rPr lang="ru-RU" sz="1200" b="1" dirty="0"/>
                        <a:t>Речевые и диалоговые системы</a:t>
                      </a:r>
                      <a:endParaRPr lang="ru-RU" sz="1200" dirty="0"/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DL-4, DL-5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от интеграции компонентов к разработке контекстного голосового интерфейса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586">
                <a:tc>
                  <a:txBody>
                    <a:bodyPr/>
                    <a:lstStyle/>
                    <a:p>
                      <a:r>
                        <a:rPr lang="ru-RU" sz="1200" b="1"/>
                        <a:t>Аналитика временных рядов и предиктивное обслуживание</a:t>
                      </a:r>
                      <a:endParaRPr lang="ru-RU" sz="1200"/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ML-2, DL-1, LC-2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от типового прогноза к проверке гипотез и сравнению сложных моделей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586">
                <a:tc>
                  <a:txBody>
                    <a:bodyPr/>
                    <a:lstStyle/>
                    <a:p>
                      <a:r>
                        <a:rPr lang="ru-RU" sz="1200" b="1"/>
                        <a:t>Интеллектуальная энергетика и оптимальное управление</a:t>
                      </a:r>
                      <a:endParaRPr lang="ru-RU" sz="1200"/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O-3, ML-4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от оптимизации отдельных сценариев к адаптивному управлению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586">
                <a:tc>
                  <a:txBody>
                    <a:bodyPr/>
                    <a:lstStyle/>
                    <a:p>
                      <a:r>
                        <a:rPr lang="ru-RU" sz="1200" b="1"/>
                        <a:t>Архитектура систем ИИ</a:t>
                      </a:r>
                      <a:endParaRPr lang="ru-RU" sz="1200"/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LC-3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от схемы прототипа к проектированию масштабируемой системы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6874">
                <a:tc>
                  <a:txBody>
                    <a:bodyPr/>
                    <a:lstStyle/>
                    <a:p>
                      <a:r>
                        <a:rPr lang="ru-RU" sz="1200" b="1"/>
                        <a:t>MLOps и жизненный цикл систем ИИ</a:t>
                      </a:r>
                      <a:endParaRPr lang="ru-RU" sz="1200"/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LC-5, LC-6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от разового развёртывания к </a:t>
                      </a:r>
                      <a:r>
                        <a:rPr lang="ru-RU" sz="1200" dirty="0" err="1"/>
                        <a:t>воспроизводимости</a:t>
                      </a:r>
                      <a:r>
                        <a:rPr lang="ru-RU" sz="1200" dirty="0"/>
                        <a:t>, мониторингу и сопровождению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586">
                <a:tc>
                  <a:txBody>
                    <a:bodyPr/>
                    <a:lstStyle/>
                    <a:p>
                      <a:r>
                        <a:rPr lang="ru-RU" sz="1200" b="1"/>
                        <a:t>Безопасность и доверенный ИИ</a:t>
                      </a:r>
                      <a:endParaRPr lang="ru-RU" sz="1200"/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AI S-1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от выявления рисков к разработке и испытанию средств защиты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4296">
                <a:tc>
                  <a:txBody>
                    <a:bodyPr/>
                    <a:lstStyle/>
                    <a:p>
                      <a:r>
                        <a:rPr lang="ru-RU" sz="1200" b="1"/>
                        <a:t>Проектный практикум / практика / ВКР</a:t>
                      </a:r>
                      <a:endParaRPr lang="ru-RU" sz="1200"/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LC-2, LC-3, LC-6 и профильные ML/DL-компетенции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разработка полноценного MVP или опытного образца</a:t>
                      </a:r>
                    </a:p>
                  </a:txBody>
                  <a:tcPr marL="35649" marR="35649" marT="17825" marB="17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65875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xmlns="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xmlns="" id="{3D0B2A8C-4966-E62C-16D2-22E73CF8EC6E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17253" y="377097"/>
          <a:ext cx="12174746" cy="6313411"/>
        </p:xfrm>
        <a:graphic>
          <a:graphicData uri="http://schemas.openxmlformats.org/drawingml/2006/table">
            <a:tbl>
              <a:tblPr/>
              <a:tblGrid>
                <a:gridCol w="7060297"/>
                <a:gridCol w="1798875"/>
                <a:gridCol w="529081"/>
                <a:gridCol w="458536"/>
                <a:gridCol w="811257"/>
                <a:gridCol w="1022891"/>
                <a:gridCol w="493809"/>
              </a:tblGrid>
              <a:tr h="28840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Элемент дисциплины</a:t>
                      </a:r>
                      <a:endParaRPr lang="ru-RU" sz="800" dirty="0">
                        <a:latin typeface="Arial"/>
                        <a:ea typeface="Arial"/>
                      </a:endParaRPr>
                    </a:p>
                  </a:txBody>
                  <a:tcPr marL="22421" marR="22421" marT="22421" marB="22421" anchor="ctr">
                    <a:lnL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Содержание (тематические сущности)</a:t>
                      </a: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2421" marR="22421" marT="22421" marB="22421" anchor="ctr">
                    <a:lnL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Форма</a:t>
                      </a: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2421" marR="22421" marT="22421" marB="22421" anchor="ctr">
                    <a:lnL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Объём, а.ч.</a:t>
                      </a: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2421" marR="22421" marT="22421" marB="22421" anchor="ctr">
                    <a:lnL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Компетенция КРМ</a:t>
                      </a: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2421" marR="22421" marT="22421" marB="22421" anchor="ctr">
                    <a:lnL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Индикатор</a:t>
                      </a: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2421" marR="22421" marT="22421" marB="22421" anchor="ctr">
                    <a:lnL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Уровень</a:t>
                      </a: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2421" marR="22421" marT="22421" marB="22421" anchor="ctr">
                    <a:lnL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9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b="1" dirty="0">
                          <a:latin typeface="Arial"/>
                          <a:ea typeface="Arial"/>
                        </a:rPr>
                        <a:t>БЛОК 1</a:t>
                      </a:r>
                      <a:endParaRPr lang="ru-RU" sz="9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Введение и архитектура умного дома как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киберфизической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системы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>
                          <a:latin typeface="Arial"/>
                          <a:ea typeface="Arial"/>
                        </a:rPr>
                        <a:t>10</a:t>
                      </a: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>
                          <a:latin typeface="Arial"/>
                          <a:ea typeface="Arial"/>
                        </a:rPr>
                        <a:t>ML-2 BD-1</a:t>
                      </a: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ML-2.1 BD-1.1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dirty="0">
                          <a:latin typeface="Arial"/>
                          <a:ea typeface="Arial"/>
                        </a:rPr>
                        <a:t>Б</a:t>
                      </a:r>
                      <a:endParaRPr lang="ru-RU" sz="800" dirty="0">
                        <a:latin typeface="Arial"/>
                        <a:ea typeface="Arial"/>
                      </a:endParaRP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3960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Занятие 1.1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Умный дом как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киберфизическая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система. Эволюция: от запрограммированной автоматизации к интеллектуальным решениям ИИ. Отличие правил от обучения на данных. Примеры успешных и провальных внедрений.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 dirty="0" err="1">
                          <a:latin typeface="Arial"/>
                          <a:ea typeface="Arial"/>
                        </a:rPr>
                        <a:t>Киберфизические</a:t>
                      </a:r>
                      <a:r>
                        <a:rPr lang="ru-RU" sz="800" dirty="0">
                          <a:latin typeface="Arial"/>
                          <a:ea typeface="Arial"/>
                        </a:rPr>
                        <a:t> системы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Правила </a:t>
                      </a:r>
                      <a:r>
                        <a:rPr lang="ru-RU" sz="800" dirty="0" err="1">
                          <a:latin typeface="Arial"/>
                          <a:ea typeface="Arial"/>
                        </a:rPr>
                        <a:t>vs</a:t>
                      </a:r>
                      <a:r>
                        <a:rPr lang="ru-RU" sz="800" dirty="0">
                          <a:latin typeface="Arial"/>
                          <a:ea typeface="Arial"/>
                        </a:rPr>
                        <a:t> обучение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Эволюция умного дома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Л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ML-2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ML-2.1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Б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Занятие 1.2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Сенсоры и данные в умном доме. Типы датчиков (движения, температуры, качества воздуха, тока, сна, вибрации). Природа сигналов, шум, частота опроса, проблемы качества данных в реальном времени.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Типы датчиков и их характеристики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Шум и метрология IoT-данных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Проблемы качества данных в реальном времени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Л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BD-1 ML-2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BD-1.1 ML-2.2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Б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1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Занятие 1.3 (практика)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Архитектура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ИИ-решений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в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IoT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. Облако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vs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Туман (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Fog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)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vs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Edge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AI. Где принимать решения? Практика: развёртывание простой модели на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Raspberry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Pi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/ ESP32 и сравнение задержек.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Cloud / Fog / Edge сравнение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Задержки и приватность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Развёртывание на edge-устройстве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П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4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LC-5 ML-2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LC-5.1 ML-2.2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Б / С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7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Занятие 1.4 (практика,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продв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.)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Сбор телеметрии с датчиков. Настройка MQTT. Хранение временных рядов (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InfluxDB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/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Timescale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). Базовый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дашборд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в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Grafana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.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MQTT брокер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Time-series БД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Визуализация телеметрии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П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BD-3 PL-1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BD-3.1 PL-1.2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С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9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b="1" dirty="0">
                          <a:latin typeface="Arial"/>
                          <a:ea typeface="Arial"/>
                        </a:rPr>
                        <a:t>БЛОК 2</a:t>
                      </a:r>
                      <a:endParaRPr lang="ru-RU" sz="9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Фундаментальные технологии ИИ в контексте умного дома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>
                          <a:latin typeface="Arial"/>
                          <a:ea typeface="Arial"/>
                        </a:rPr>
                        <a:t>18</a:t>
                      </a: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>
                          <a:latin typeface="Arial"/>
                          <a:ea typeface="Arial"/>
                        </a:rPr>
                        <a:t>ML-2, ML-4 DL-3, DL-4 ML-6</a:t>
                      </a: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ML-2.2, ML-4.1 DL-3.1, DL-4.1 ML-6.1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>
                          <a:latin typeface="Arial"/>
                          <a:ea typeface="Arial"/>
                        </a:rPr>
                        <a:t>Б / С</a:t>
                      </a:r>
                      <a:endParaRPr lang="ru-RU" sz="800">
                        <a:latin typeface="Arial"/>
                        <a:ea typeface="Arial"/>
                      </a:endParaRP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976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Занятие 2.1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Обработка временных рядов. Прогнозирование потребления энергии, температуры, качества воздуха. Модели ARIMA,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Prophet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, LSTM / GRU. Особенности данных умного дома (сезонность, события, пропуски).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Arial"/>
                          <a:ea typeface="Arial"/>
                        </a:rPr>
                        <a:t>Time series forecasting</a:t>
                      </a:r>
                      <a:endParaRPr lang="ru-RU" sz="8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Arial"/>
                          <a:ea typeface="Arial"/>
                        </a:rPr>
                        <a:t>ARIMA / Prophet / LSTM</a:t>
                      </a:r>
                      <a:endParaRPr lang="ru-RU" sz="8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Особенности IoT-данных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Л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ML-2 </a:t>
                      </a:r>
                      <a:r>
                        <a:rPr lang="ru-RU" sz="800" dirty="0" smtClean="0">
                          <a:latin typeface="Arial"/>
                          <a:ea typeface="Arial"/>
                        </a:rPr>
                        <a:t>ML-4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dirty="0" smtClean="0">
                          <a:latin typeface="Arial"/>
                          <a:ea typeface="Arial"/>
                        </a:rPr>
                        <a:t>(</a:t>
                      </a:r>
                      <a:r>
                        <a:rPr lang="en-US" sz="800" b="1" dirty="0" smtClean="0"/>
                        <a:t>LC-2</a:t>
                      </a:r>
                      <a:r>
                        <a:rPr lang="ru-RU" sz="800" b="1" dirty="0" smtClean="0"/>
                        <a:t>?</a:t>
                      </a:r>
                      <a:r>
                        <a:rPr lang="ru-RU" sz="800" b="1" dirty="0" smtClean="0">
                          <a:latin typeface="Arial"/>
                          <a:ea typeface="Arial"/>
                        </a:rPr>
                        <a:t>)</a:t>
                      </a:r>
                      <a:endParaRPr lang="ru-RU" sz="800" b="1" dirty="0">
                        <a:latin typeface="Arial"/>
                        <a:ea typeface="Arial"/>
                      </a:endParaRP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ML-2.2 ML-4.1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Б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7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Занятие 2.2 (практика)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Прогнозирование энергопотребления на реальном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датасете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умного дома. Сравнение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Prophet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и LSTM. Оценка качества (MAE, RMSE).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 dirty="0" err="1">
                          <a:latin typeface="Arial"/>
                          <a:ea typeface="Arial"/>
                        </a:rPr>
                        <a:t>Prophet</a:t>
                      </a:r>
                      <a:r>
                        <a:rPr lang="ru-RU" sz="8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ru-RU" sz="800" dirty="0" err="1">
                          <a:latin typeface="Arial"/>
                          <a:ea typeface="Arial"/>
                        </a:rPr>
                        <a:t>vs</a:t>
                      </a:r>
                      <a:r>
                        <a:rPr lang="ru-RU" sz="800" dirty="0">
                          <a:latin typeface="Arial"/>
                          <a:ea typeface="Arial"/>
                        </a:rPr>
                        <a:t> LSTM на IoT-данных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Метрики качества прогноза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Визуализация прогнозов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П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4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ML-2 PL-1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ML-2.2 PL-1.2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Б / С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98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Занятие 2.3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Компьютерное зрение в умном доме. Распознавание лиц, детекция позы и падений, распознавание жестов, обнаружение оставленных предметов. Ограничения вычислительных ресурсов.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Arial"/>
                          <a:ea typeface="Arial"/>
                        </a:rPr>
                        <a:t>Face recognition / Pose estimation</a:t>
                      </a:r>
                      <a:endParaRPr lang="ru-RU" sz="8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Arial"/>
                          <a:ea typeface="Arial"/>
                        </a:rPr>
                        <a:t>Fall detection</a:t>
                      </a:r>
                      <a:endParaRPr lang="ru-RU" sz="8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 dirty="0" err="1">
                          <a:latin typeface="Arial"/>
                          <a:ea typeface="Arial"/>
                        </a:rPr>
                        <a:t>Edge</a:t>
                      </a:r>
                      <a:r>
                        <a:rPr lang="ru-RU" sz="800" dirty="0">
                          <a:latin typeface="Arial"/>
                          <a:ea typeface="Arial"/>
                        </a:rPr>
                        <a:t> CV ограничения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Л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DL-3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DL-3.1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Б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9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Занятие 2.4 (практика)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Развёртывание лёгкой модели компьютерного зрения (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MobileNet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/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YOLO-tiny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) на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Raspberry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Pi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.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Детекция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движения и распознавание объектов в реальном времени.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dirty="0" err="1">
                          <a:latin typeface="Arial"/>
                          <a:ea typeface="Arial"/>
                        </a:rPr>
                        <a:t>TensorFlow</a:t>
                      </a:r>
                      <a:r>
                        <a:rPr lang="en-US" sz="8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800" dirty="0" err="1">
                          <a:latin typeface="Arial"/>
                          <a:ea typeface="Arial"/>
                        </a:rPr>
                        <a:t>Lite</a:t>
                      </a:r>
                      <a:r>
                        <a:rPr lang="en-US" sz="800" dirty="0">
                          <a:latin typeface="Arial"/>
                          <a:ea typeface="Arial"/>
                        </a:rPr>
                        <a:t> / </a:t>
                      </a:r>
                      <a:r>
                        <a:rPr lang="en-US" sz="800" dirty="0" err="1">
                          <a:latin typeface="Arial"/>
                          <a:ea typeface="Arial"/>
                        </a:rPr>
                        <a:t>OpenCV</a:t>
                      </a:r>
                      <a:r>
                        <a:rPr lang="en-US" sz="8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ru-RU" sz="800" dirty="0">
                          <a:latin typeface="Arial"/>
                          <a:ea typeface="Arial"/>
                        </a:rPr>
                        <a:t>на</a:t>
                      </a:r>
                      <a:r>
                        <a:rPr lang="en-US" sz="800" dirty="0">
                          <a:latin typeface="Arial"/>
                          <a:ea typeface="Arial"/>
                        </a:rPr>
                        <a:t> edge</a:t>
                      </a:r>
                      <a:endParaRPr lang="ru-RU" sz="8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Arial"/>
                          <a:ea typeface="Arial"/>
                        </a:rPr>
                        <a:t>Real-time inference</a:t>
                      </a:r>
                      <a:endParaRPr lang="ru-RU" sz="8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Оптимизация под слабое железо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П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4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DL-3 LC-5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DL-3.1 LC-5.1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С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35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Занятие 2.5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Голосовой интерфейс умного дома. Архитектура: Wake Word → ASR → NLU → Dialog Manager → TTS. Проблема понимания контекста и многозадачности в домашней среде.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Arial"/>
                          <a:ea typeface="Arial"/>
                        </a:rPr>
                        <a:t>Wake Word Detection</a:t>
                      </a:r>
                      <a:endParaRPr lang="ru-RU" sz="8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Arial"/>
                          <a:ea typeface="Arial"/>
                        </a:rPr>
                        <a:t>ASR + NLU pipeline</a:t>
                      </a:r>
                      <a:endParaRPr lang="ru-RU" sz="8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Arial"/>
                          <a:ea typeface="Arial"/>
                        </a:rPr>
                        <a:t>Dialog management </a:t>
                      </a:r>
                      <a:r>
                        <a:rPr lang="ru-RU" sz="800" dirty="0">
                          <a:latin typeface="Arial"/>
                          <a:ea typeface="Arial"/>
                        </a:rPr>
                        <a:t>в умном доме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Л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latin typeface="Arial"/>
                          <a:ea typeface="Arial"/>
                        </a:rPr>
                        <a:t>DL-4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dirty="0" smtClean="0">
                          <a:latin typeface="Arial"/>
                          <a:ea typeface="Arial"/>
                        </a:rPr>
                        <a:t>(</a:t>
                      </a:r>
                      <a:r>
                        <a:rPr lang="en-US" sz="800" b="1" dirty="0" smtClean="0">
                          <a:latin typeface="+mn-lt"/>
                          <a:ea typeface="+mn-ea"/>
                        </a:rPr>
                        <a:t>DL-5</a:t>
                      </a:r>
                      <a:r>
                        <a:rPr lang="ru-RU" sz="800" b="1" dirty="0" smtClean="0">
                          <a:latin typeface="+mn-lt"/>
                          <a:ea typeface="+mn-ea"/>
                        </a:rPr>
                        <a:t>?</a:t>
                      </a:r>
                      <a:r>
                        <a:rPr lang="ru-RU" sz="800" b="1" dirty="0" smtClean="0">
                          <a:latin typeface="Arial"/>
                          <a:ea typeface="Arial"/>
                        </a:rPr>
                        <a:t>)</a:t>
                      </a:r>
                      <a:endParaRPr lang="ru-RU" sz="800" b="1" dirty="0">
                        <a:latin typeface="Arial"/>
                        <a:ea typeface="Arial"/>
                      </a:endParaRP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DL-4.1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Б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0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Занятие 2.6 (практика)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Создание простого голосового навыка (Rasa / Snips / Whisper + LLM). Интеграция с Home Assistant. Обработка команд с контекстом.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>
                          <a:latin typeface="Arial"/>
                          <a:ea typeface="Arial"/>
                        </a:rPr>
                        <a:t>Rasa / custom NLU</a:t>
                      </a:r>
                      <a:endParaRPr lang="ru-RU" sz="80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Интеграция с</a:t>
                      </a:r>
                      <a:r>
                        <a:rPr lang="en-US" sz="800">
                          <a:latin typeface="Arial"/>
                          <a:ea typeface="Arial"/>
                        </a:rPr>
                        <a:t> HA</a:t>
                      </a:r>
                      <a:endParaRPr lang="ru-RU" sz="80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>
                          <a:latin typeface="Arial"/>
                          <a:ea typeface="Arial"/>
                        </a:rPr>
                        <a:t>Context-aware </a:t>
                      </a:r>
                      <a:r>
                        <a:rPr lang="ru-RU" sz="800">
                          <a:latin typeface="Arial"/>
                          <a:ea typeface="Arial"/>
                        </a:rPr>
                        <a:t>команды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П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4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DL-4 PL-1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DL-4.1 PL-1.2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Б / С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4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Занятие 2.7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Обучение с подкреплением в умном доме. Управление HVAC, освещением, жалюзи. Формализация reward function (комфорт + энергосбережение). Симуляция дома как среды.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RL для управления климатом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Reward design (comfort vs energy)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Симуляция умного дома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Л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latin typeface="Arial"/>
                          <a:ea typeface="Arial"/>
                        </a:rPr>
                        <a:t>ML-6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latin typeface="Arial"/>
                          <a:ea typeface="Arial"/>
                        </a:rPr>
                        <a:t>(</a:t>
                      </a:r>
                      <a:r>
                        <a:rPr lang="en-US" sz="800" dirty="0" smtClean="0"/>
                        <a:t>ML-4</a:t>
                      </a:r>
                      <a:r>
                        <a:rPr lang="ru-RU" sz="800" dirty="0" smtClean="0"/>
                        <a:t>?</a:t>
                      </a:r>
                      <a:r>
                        <a:rPr lang="ru-RU" sz="800" dirty="0" smtClean="0">
                          <a:latin typeface="Arial"/>
                          <a:ea typeface="Arial"/>
                        </a:rPr>
                        <a:t>)</a:t>
                      </a:r>
                      <a:endParaRPr lang="ru-RU" sz="800" dirty="0">
                        <a:latin typeface="Arial"/>
                        <a:ea typeface="Arial"/>
                      </a:endParaRP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ML-6.1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Б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4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Занятие 2.8 (практика)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Простой RL-агент для управления температурой в симулированной комнате (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Gym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/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Stable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Baselines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). Сравнение с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правиловым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контроллером.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>
                          <a:latin typeface="Arial"/>
                          <a:ea typeface="Arial"/>
                        </a:rPr>
                        <a:t>Gym environment </a:t>
                      </a:r>
                      <a:r>
                        <a:rPr lang="ru-RU" sz="800">
                          <a:latin typeface="Arial"/>
                          <a:ea typeface="Arial"/>
                        </a:rPr>
                        <a:t>для</a:t>
                      </a:r>
                      <a:r>
                        <a:rPr lang="en-US" sz="800">
                          <a:latin typeface="Arial"/>
                          <a:ea typeface="Arial"/>
                        </a:rPr>
                        <a:t> HVAC</a:t>
                      </a:r>
                      <a:endParaRPr lang="ru-RU" sz="80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>
                          <a:latin typeface="Arial"/>
                          <a:ea typeface="Arial"/>
                        </a:rPr>
                        <a:t>Training RL agent</a:t>
                      </a:r>
                      <a:endParaRPr lang="ru-RU" sz="80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Сравнение с baseline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П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Arial"/>
                        </a:rPr>
                        <a:t>ML-6 PL-1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ML-6.1 PL-1.2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Arial"/>
                          <a:ea typeface="Arial"/>
                        </a:rPr>
                        <a:t>С</a:t>
                      </a:r>
                    </a:p>
                  </a:txBody>
                  <a:tcPr marL="20179" marR="20179" marT="15695" marB="1569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Дисциплина: Прикладной искусственный интеллект для систем умного дома</a:t>
            </a:r>
            <a:endParaRPr kumimoji="0" lang="ru-RU" sz="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700" b="0" i="0" u="none" strike="noStrike" cap="none" normalizeH="0" baseline="0" smtClean="0">
                <a:ln>
                  <a:noFill/>
                </a:ln>
                <a:solidFill>
                  <a:srgbClr val="444444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Курс: 3–4 курс бакалавриата / 1 курс магистратуры | Трудоёмкость: 5 ЗЕ (180 ч) | Форма аттестации: экзамен + защита проекта</a:t>
            </a:r>
            <a:endParaRPr kumimoji="0" lang="ru-RU" sz="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Целевые</a:t>
            </a:r>
            <a:r>
              <a:rPr kumimoji="0" lang="en-US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kumimoji="0" lang="ru-RU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компетенции</a:t>
            </a:r>
            <a:r>
              <a:rPr kumimoji="0" lang="en-US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kumimoji="0" lang="ru-RU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КРМ</a:t>
            </a:r>
            <a:r>
              <a:rPr kumimoji="0" lang="en-US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: ML-2, ML-4, DL-1, DL-3, DL-4, ML-6, LC-5, AI S-1 | </a:t>
            </a:r>
            <a:r>
              <a:rPr kumimoji="0" lang="ru-RU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Роли</a:t>
            </a:r>
            <a:r>
              <a:rPr kumimoji="0" lang="en-US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: ML Engineer (Applied), AI Architect (IoT/Edge), Data Engineer (IoT)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1804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xmlns="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xmlns="" id="{3D0B2A8C-4966-E62C-16D2-22E73CF8EC6E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Дисциплина: Прикладной искусственный интеллект для систем умного дома</a:t>
            </a:r>
            <a:endParaRPr kumimoji="0" lang="ru-RU" sz="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700" b="0" i="0" u="none" strike="noStrike" cap="none" normalizeH="0" baseline="0" smtClean="0">
                <a:ln>
                  <a:noFill/>
                </a:ln>
                <a:solidFill>
                  <a:srgbClr val="444444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Курс: 3–4 курс бакалавриата / 1 курс магистратуры | Трудоёмкость: 5 ЗЕ (180 ч) | Форма аттестации: экзамен + защита проекта</a:t>
            </a:r>
            <a:endParaRPr kumimoji="0" lang="ru-RU" sz="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Целевые</a:t>
            </a:r>
            <a:r>
              <a:rPr kumimoji="0" lang="en-US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kumimoji="0" lang="ru-RU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компетенции</a:t>
            </a:r>
            <a:r>
              <a:rPr kumimoji="0" lang="en-US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kumimoji="0" lang="ru-RU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КРМ</a:t>
            </a:r>
            <a:r>
              <a:rPr kumimoji="0" lang="en-US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: ML-2, ML-4, DL-1, DL-3, DL-4, ML-6, LC-5, AI S-1 | </a:t>
            </a:r>
            <a:r>
              <a:rPr kumimoji="0" lang="ru-RU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Роли</a:t>
            </a:r>
            <a:r>
              <a:rPr kumimoji="0" lang="en-US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: ML Engineer (Applied), AI Architect (IoT/Edge), Data Engineer (IoT)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0" y="685800"/>
          <a:ext cx="12191999" cy="6172199"/>
        </p:xfrm>
        <a:graphic>
          <a:graphicData uri="http://schemas.openxmlformats.org/drawingml/2006/table">
            <a:tbl>
              <a:tblPr/>
              <a:tblGrid>
                <a:gridCol w="2687485"/>
                <a:gridCol w="3342966"/>
                <a:gridCol w="983225"/>
                <a:gridCol w="852129"/>
                <a:gridCol w="1507613"/>
                <a:gridCol w="1900903"/>
                <a:gridCol w="917678"/>
              </a:tblGrid>
              <a:tr h="10556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Arial"/>
                          <a:ea typeface="Arial"/>
                        </a:rPr>
                        <a:t>Занятие 2.9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Arial"/>
                          <a:ea typeface="Arial"/>
                        </a:rPr>
                        <a:t>Системы рекомендаций в умном доме. Рекомендация освещения/музыки под настроение, рецептов по содержимому холодильника, сценариев автоматизации.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>
                          <a:latin typeface="Arial"/>
                          <a:ea typeface="Arial"/>
                        </a:rPr>
                        <a:t>Content-based &amp; Collaborative filtering</a:t>
                      </a:r>
                      <a:endParaRPr lang="ru-RU" sz="100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>
                          <a:latin typeface="Arial"/>
                          <a:ea typeface="Arial"/>
                        </a:rPr>
                        <a:t>Context-aware recommendations</a:t>
                      </a:r>
                      <a:endParaRPr lang="ru-RU" sz="100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Privacy в рекомендациях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Л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ML-4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ML-4.1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Б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0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 b="1">
                          <a:latin typeface="Arial"/>
                          <a:ea typeface="Arial"/>
                        </a:rPr>
                        <a:t>БЛОК 3</a:t>
                      </a:r>
                      <a:endParaRPr lang="ru-RU" sz="100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Специфические задачи умного дома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0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0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b="1">
                          <a:latin typeface="Arial"/>
                          <a:ea typeface="Arial"/>
                        </a:rPr>
                        <a:t>10</a:t>
                      </a:r>
                      <a:endParaRPr lang="ru-RU" sz="10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b="1">
                          <a:latin typeface="Arial"/>
                          <a:ea typeface="Arial"/>
                        </a:rPr>
                        <a:t>ML-4 AI S-1 LC-2</a:t>
                      </a:r>
                      <a:endParaRPr lang="ru-RU" sz="10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ML-4.1 AI S-1.1 LC-2.1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b="1">
                          <a:latin typeface="Arial"/>
                          <a:ea typeface="Arial"/>
                        </a:rPr>
                        <a:t>Б / С</a:t>
                      </a:r>
                      <a:endParaRPr lang="ru-RU" sz="10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12172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Занятие 3.1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Предиктивная аналитика и превентивное обслуживание. Диагностика бытовой техники по сигнатуре тока и вибрации. Обнаружение аномалий (протечки, неисправности вентиляции) до аварии.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Arial"/>
                          <a:ea typeface="Arial"/>
                        </a:rPr>
                        <a:t>Anomaly detection </a:t>
                      </a:r>
                      <a:r>
                        <a:rPr lang="ru-RU" sz="1000" dirty="0">
                          <a:latin typeface="Arial"/>
                          <a:ea typeface="Arial"/>
                        </a:rPr>
                        <a:t>в</a:t>
                      </a:r>
                      <a:r>
                        <a:rPr lang="en-US" sz="10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000" dirty="0" err="1">
                          <a:latin typeface="Arial"/>
                          <a:ea typeface="Arial"/>
                        </a:rPr>
                        <a:t>IoT</a:t>
                      </a:r>
                      <a:endParaRPr lang="ru-RU" sz="10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Arial"/>
                          <a:ea typeface="Arial"/>
                        </a:rPr>
                        <a:t>Predictive maintenance</a:t>
                      </a:r>
                      <a:endParaRPr lang="ru-RU" sz="10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latin typeface="Arial"/>
                          <a:ea typeface="Arial"/>
                        </a:rPr>
                        <a:t>Signature</a:t>
                      </a:r>
                      <a:r>
                        <a:rPr lang="ru-RU" sz="10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ru-RU" sz="1000" dirty="0" err="1">
                          <a:latin typeface="Arial"/>
                          <a:ea typeface="Arial"/>
                        </a:rPr>
                        <a:t>analysis</a:t>
                      </a:r>
                      <a:r>
                        <a:rPr lang="ru-RU" sz="1000" dirty="0">
                          <a:latin typeface="Arial"/>
                          <a:ea typeface="Arial"/>
                        </a:rPr>
                        <a:t> (ток/вибрация)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Л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ML-4 LC-2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ML-4.1 LC-2.1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Б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56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Занятие 3.2 (практика)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Обнаружение аномалий в данных умного дома (Isolation Forest / Autoencoder). Визуализация аномальных событий. Построение простого алертинга.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latin typeface="Arial"/>
                          <a:ea typeface="Arial"/>
                        </a:rPr>
                        <a:t>Isolation</a:t>
                      </a:r>
                      <a:r>
                        <a:rPr lang="ru-RU" sz="10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ru-RU" sz="1000" dirty="0" err="1">
                          <a:latin typeface="Arial"/>
                          <a:ea typeface="Arial"/>
                        </a:rPr>
                        <a:t>Forest</a:t>
                      </a:r>
                      <a:r>
                        <a:rPr lang="ru-RU" sz="1000" dirty="0">
                          <a:latin typeface="Arial"/>
                          <a:ea typeface="Arial"/>
                        </a:rPr>
                        <a:t> / AE для аномалий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Arial"/>
                          <a:ea typeface="Arial"/>
                        </a:rPr>
                        <a:t>Визуализация и </a:t>
                      </a:r>
                      <a:r>
                        <a:rPr lang="ru-RU" sz="1000" dirty="0" err="1">
                          <a:latin typeface="Arial"/>
                          <a:ea typeface="Arial"/>
                        </a:rPr>
                        <a:t>алертинг</a:t>
                      </a:r>
                      <a:endParaRPr lang="ru-RU" sz="10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Arial"/>
                          <a:ea typeface="Arial"/>
                        </a:rPr>
                        <a:t>Реальные кейсы протечек/поломок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П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4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ML-4 PL-1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ML-4.1 PL-1.2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Б / С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72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Занятие 3.3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Энергоменеджмент и Demand Response. Оптимизация работы солнечных панелей + накопителей. Интеллектуальное управление нагрузкой. Учёт тарифов и предпочтений пользователя.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>
                          <a:latin typeface="Arial"/>
                          <a:ea typeface="Arial"/>
                        </a:rPr>
                        <a:t>Demand Response</a:t>
                      </a:r>
                      <a:endParaRPr lang="ru-RU" sz="100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>
                          <a:latin typeface="Arial"/>
                          <a:ea typeface="Arial"/>
                        </a:rPr>
                        <a:t>Optimization </a:t>
                      </a:r>
                      <a:r>
                        <a:rPr lang="ru-RU" sz="1000">
                          <a:latin typeface="Arial"/>
                          <a:ea typeface="Arial"/>
                        </a:rPr>
                        <a:t>под тарифы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>
                          <a:latin typeface="Arial"/>
                          <a:ea typeface="Arial"/>
                        </a:rPr>
                        <a:t>Solar + Battery management</a:t>
                      </a:r>
                      <a:endParaRPr lang="ru-RU" sz="10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Л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ML-2 O-3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ML-2.2 O-3.1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Б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72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Занятие 3.4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Безопасность и приватность в умном доме. Обнаружение аномального поведения (вторжение). Федеративное обучение и дифференциальная приватность — данные не покидают дом.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>
                          <a:latin typeface="Arial"/>
                          <a:ea typeface="Arial"/>
                        </a:rPr>
                        <a:t>Federated Learning </a:t>
                      </a:r>
                      <a:r>
                        <a:rPr lang="ru-RU" sz="1000">
                          <a:latin typeface="Arial"/>
                          <a:ea typeface="Arial"/>
                        </a:rPr>
                        <a:t>для</a:t>
                      </a:r>
                      <a:r>
                        <a:rPr lang="en-US" sz="1000">
                          <a:latin typeface="Arial"/>
                          <a:ea typeface="Arial"/>
                        </a:rPr>
                        <a:t> IoT</a:t>
                      </a:r>
                      <a:endParaRPr lang="ru-RU" sz="100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>
                          <a:latin typeface="Arial"/>
                          <a:ea typeface="Arial"/>
                        </a:rPr>
                        <a:t>Differential Privacy</a:t>
                      </a:r>
                      <a:endParaRPr lang="ru-RU" sz="100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Anomaly behaviour detection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Л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Arial"/>
                          <a:ea typeface="Arial"/>
                        </a:rPr>
                        <a:t>AI S-1 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Arial"/>
                          <a:ea typeface="Arial"/>
                        </a:rPr>
                        <a:t>AI </a:t>
                      </a:r>
                      <a:r>
                        <a:rPr lang="ru-RU" sz="1000" dirty="0" smtClean="0">
                          <a:latin typeface="Arial"/>
                          <a:ea typeface="Arial"/>
                        </a:rPr>
                        <a:t>S-1</a:t>
                      </a:r>
                      <a:endParaRPr lang="ru-RU" sz="1000" dirty="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Arial"/>
                          <a:ea typeface="Arial"/>
                        </a:rPr>
                        <a:t>Б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1804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xmlns="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xmlns="" id="{3D0B2A8C-4966-E62C-16D2-22E73CF8EC6E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Дисциплина: Прикладной искусственный интеллект для систем умного дома</a:t>
            </a:r>
            <a:endParaRPr kumimoji="0" lang="ru-RU" sz="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700" b="0" i="0" u="none" strike="noStrike" cap="none" normalizeH="0" baseline="0" smtClean="0">
                <a:ln>
                  <a:noFill/>
                </a:ln>
                <a:solidFill>
                  <a:srgbClr val="444444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Курс: 3–4 курс бакалавриата / 1 курс магистратуры | Трудоёмкость: 5 ЗЕ (180 ч) | Форма аттестации: экзамен + защита проекта</a:t>
            </a:r>
            <a:endParaRPr kumimoji="0" lang="ru-RU" sz="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Целевые</a:t>
            </a:r>
            <a:r>
              <a:rPr kumimoji="0" lang="en-US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kumimoji="0" lang="ru-RU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компетенции</a:t>
            </a:r>
            <a:r>
              <a:rPr kumimoji="0" lang="en-US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kumimoji="0" lang="ru-RU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КРМ</a:t>
            </a:r>
            <a:r>
              <a:rPr kumimoji="0" lang="en-US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: ML-2, ML-4, DL-1, DL-3, DL-4, ML-6, LC-5, AI S-1 | </a:t>
            </a:r>
            <a:r>
              <a:rPr kumimoji="0" lang="ru-RU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Роли</a:t>
            </a:r>
            <a:r>
              <a:rPr kumimoji="0" lang="en-US" sz="6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  <a:cs typeface="Arial" pitchFamily="34" charset="0"/>
              </a:rPr>
              <a:t>: ML Engineer (Applied), AI Architect (IoT/Edge), Data Engineer (IoT)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0" y="504266"/>
          <a:ext cx="12191999" cy="6417068"/>
        </p:xfrm>
        <a:graphic>
          <a:graphicData uri="http://schemas.openxmlformats.org/drawingml/2006/table">
            <a:tbl>
              <a:tblPr/>
              <a:tblGrid>
                <a:gridCol w="2687485"/>
                <a:gridCol w="3342966"/>
                <a:gridCol w="983225"/>
                <a:gridCol w="852129"/>
                <a:gridCol w="1507613"/>
                <a:gridCol w="1900903"/>
                <a:gridCol w="917678"/>
              </a:tblGrid>
              <a:tr h="32300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b="1" dirty="0">
                          <a:latin typeface="Arial"/>
                          <a:ea typeface="Arial"/>
                        </a:rPr>
                        <a:t>БЛОК 4</a:t>
                      </a:r>
                      <a:endParaRPr lang="ru-RU" sz="9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Практическая реализация и интеграция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 b="1">
                          <a:latin typeface="Arial"/>
                          <a:ea typeface="Arial"/>
                        </a:rPr>
                        <a:t>10</a:t>
                      </a:r>
                      <a:endParaRPr lang="ru-RU" sz="9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 b="1">
                          <a:latin typeface="Arial"/>
                          <a:ea typeface="Arial"/>
                        </a:rPr>
                        <a:t>LC-5 PL-1 AI S-1</a:t>
                      </a:r>
                      <a:endParaRPr lang="ru-RU" sz="9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LC-5.1, LC-5.2 PL-1.2 AI S-1.2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 b="1">
                          <a:latin typeface="Arial"/>
                          <a:ea typeface="Arial"/>
                        </a:rPr>
                        <a:t>Б / С</a:t>
                      </a:r>
                      <a:endParaRPr lang="ru-RU" sz="9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83362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Занятие 4.1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 err="1">
                          <a:latin typeface="Arial"/>
                          <a:ea typeface="Arial"/>
                        </a:rPr>
                        <a:t>Edge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AI на практике. </a:t>
                      </a:r>
                      <a:r>
                        <a:rPr lang="en-US" sz="900" dirty="0" err="1">
                          <a:latin typeface="Arial"/>
                          <a:ea typeface="Arial"/>
                        </a:rPr>
                        <a:t>TinyML</a:t>
                      </a:r>
                      <a:r>
                        <a:rPr lang="en-US" sz="9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и</a:t>
                      </a:r>
                      <a:r>
                        <a:rPr lang="en-US" sz="9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900" dirty="0" err="1">
                          <a:latin typeface="Arial"/>
                          <a:ea typeface="Arial"/>
                        </a:rPr>
                        <a:t>TensorFlow</a:t>
                      </a:r>
                      <a:r>
                        <a:rPr lang="en-US" sz="9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900" dirty="0" err="1">
                          <a:latin typeface="Arial"/>
                          <a:ea typeface="Arial"/>
                        </a:rPr>
                        <a:t>Lite</a:t>
                      </a:r>
                      <a:r>
                        <a:rPr lang="en-US" sz="900" dirty="0">
                          <a:latin typeface="Arial"/>
                          <a:ea typeface="Arial"/>
                        </a:rPr>
                        <a:t> Micro. 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Квантизация,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прунинг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, оптимизация моделей под микроконтроллеры (ESP32, STM32,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Raspberry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Pi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</a:t>
                      </a:r>
                      <a:r>
                        <a:rPr lang="ru-RU" sz="900" dirty="0" err="1">
                          <a:latin typeface="Arial"/>
                          <a:ea typeface="Arial"/>
                        </a:rPr>
                        <a:t>Zero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).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TinyML / TFLite Micro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Quantization &amp; Pruning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Оптимизация под слабое железо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Л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LC-5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LC-5.1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Б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362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Занятие 4.2 (практика)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Запуск модели на ESP32 / Raspberry Pi. Пример: детекция звука (wake word) или простая классификация жестов. Измерение потребления энергии и задержки.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 err="1">
                          <a:latin typeface="Arial"/>
                          <a:ea typeface="Arial"/>
                        </a:rPr>
                        <a:t>TFLite</a:t>
                      </a:r>
                      <a:r>
                        <a:rPr lang="en-US" sz="900" dirty="0">
                          <a:latin typeface="Arial"/>
                          <a:ea typeface="Arial"/>
                        </a:rPr>
                        <a:t> Micro 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на</a:t>
                      </a:r>
                      <a:r>
                        <a:rPr lang="en-US" sz="900" dirty="0">
                          <a:latin typeface="Arial"/>
                          <a:ea typeface="Arial"/>
                        </a:rPr>
                        <a:t> ESP32</a:t>
                      </a:r>
                      <a:endParaRPr lang="ru-RU" sz="9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rial"/>
                          <a:ea typeface="Arial"/>
                        </a:rPr>
                        <a:t>Benchmark latency &amp; power</a:t>
                      </a:r>
                      <a:endParaRPr lang="ru-RU" sz="9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Реальное развёртывание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П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4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LC-5 PL-1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LC-5.1 PL-1.2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С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362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Занятие 4.3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Интеграция и оркестрация. Протоколы Matter, Zigbee, Z-Wave, MQTT. Платформы Home Assistant и openHAB как среда для внедрения своих ML-моделей. Разработка custom integration.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rial"/>
                          <a:ea typeface="Arial"/>
                        </a:rPr>
                        <a:t>Matter / </a:t>
                      </a:r>
                      <a:r>
                        <a:rPr lang="en-US" sz="900" dirty="0" err="1">
                          <a:latin typeface="Arial"/>
                          <a:ea typeface="Arial"/>
                        </a:rPr>
                        <a:t>Zigbee</a:t>
                      </a:r>
                      <a:r>
                        <a:rPr lang="en-US" sz="900" dirty="0">
                          <a:latin typeface="Arial"/>
                          <a:ea typeface="Arial"/>
                        </a:rPr>
                        <a:t> / MQTT</a:t>
                      </a:r>
                      <a:endParaRPr lang="ru-RU" sz="9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rial"/>
                          <a:ea typeface="Arial"/>
                        </a:rPr>
                        <a:t>Home Assistant custom components</a:t>
                      </a:r>
                      <a:endParaRPr lang="ru-RU" sz="900" dirty="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dirty="0" err="1">
                          <a:latin typeface="Arial"/>
                          <a:ea typeface="Arial"/>
                        </a:rPr>
                        <a:t>Оркестрация</a:t>
                      </a:r>
                      <a:r>
                        <a:rPr lang="ru-RU" sz="900" dirty="0">
                          <a:latin typeface="Arial"/>
                          <a:ea typeface="Arial"/>
                        </a:rPr>
                        <a:t> ML-сервисов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Л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LC-5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LC-5.2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Б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59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Занятие 4.4 (практика)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Разработка custom integration для Home Assistant. Подключение своей ML-модели (например, детекция аномалий) к автоматизациям дома.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latin typeface="Arial"/>
                          <a:ea typeface="Arial"/>
                        </a:rPr>
                        <a:t>Home Assistant custom integration</a:t>
                      </a:r>
                      <a:endParaRPr lang="ru-RU" sz="90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latin typeface="Arial"/>
                          <a:ea typeface="Arial"/>
                        </a:rPr>
                        <a:t>ML → Automation pipeline</a:t>
                      </a:r>
                      <a:endParaRPr lang="ru-RU" sz="90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Реальная работа в HA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П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LC-5 PL-1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LC-5.2 PL-1.2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С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00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b="1">
                          <a:latin typeface="Arial"/>
                          <a:ea typeface="Arial"/>
                        </a:rPr>
                        <a:t>БЛОК 5</a:t>
                      </a:r>
                      <a:endParaRPr lang="ru-RU" sz="90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Проектная работа и этика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 b="1" dirty="0">
                          <a:latin typeface="Arial"/>
                          <a:ea typeface="Arial"/>
                        </a:rPr>
                        <a:t>8</a:t>
                      </a:r>
                      <a:endParaRPr lang="ru-RU" sz="900" dirty="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 b="1">
                          <a:latin typeface="Arial"/>
                          <a:ea typeface="Arial"/>
                        </a:rPr>
                        <a:t>LC-2 LC-5 SS-1</a:t>
                      </a:r>
                      <a:endParaRPr lang="ru-RU" sz="9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LC-2.1, LC-5.1 SS-1.1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 b="1">
                          <a:latin typeface="Arial"/>
                          <a:ea typeface="Arial"/>
                        </a:rPr>
                        <a:t>С</a:t>
                      </a:r>
                      <a:endParaRPr lang="ru-RU" sz="90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961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Занятие 5.1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Цифровая этика и UX в умных домах. «Зловещая долина» интеллектуальных систем. Навязчивость уведомлений. Потеря чувства контроля пользователем. Проблема датасетов (bias по демографическим группам).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Зловещая долина в умном доме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UX и контроль пользователя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Bias в датасетах IoT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Л + Дискуссия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SS-1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SS-1.1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Б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89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Занятие 5.2 — Сквозной проект (основная работа)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Разработка прототипа ИИ-системы умного дома: от сбора телеметрии → предобработки → обучения/дообучения модели → развёртывания на edge-устройстве → интеграции в Home Assistant. Защита проекта.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Полный цикл: данные → модель → edge → интеграция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Выбор задачи (энергия / безопасность / комфорт)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Презентация и защита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П (проект)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6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LC-2 LC-5 SS-1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LC-2.1, LC-5.1 SS-1.1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Arial"/>
                          <a:ea typeface="Arial"/>
                        </a:rPr>
                        <a:t>С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66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 b="1">
                          <a:latin typeface="Arial"/>
                          <a:ea typeface="Arial"/>
                        </a:rPr>
                        <a:t>ПРОМЕЖУТОЧНАЯ АТТЕСТАЦИЯ</a:t>
                      </a:r>
                      <a:endParaRPr lang="ru-RU" sz="900">
                        <a:latin typeface="Arial"/>
                        <a:ea typeface="Arial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Экзамен + защита сквозного проекта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Теоретические вопросы по всем блокам + защита индивидуального/группового проекта (демо работающей системы).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Экзамен + Защита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—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Все основные компетенции курса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>
                          <a:latin typeface="Arial"/>
                          <a:ea typeface="Arial"/>
                        </a:rPr>
                        <a:t>Итоговый уровень по всем индикаторам</a:t>
                      </a: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900" b="1" dirty="0">
                          <a:latin typeface="Arial"/>
                          <a:ea typeface="Arial"/>
                        </a:rPr>
                        <a:t>Б / С</a:t>
                      </a:r>
                      <a:endParaRPr lang="ru-RU" sz="900" dirty="0">
                        <a:latin typeface="Arial"/>
                        <a:ea typeface="Arial"/>
                      </a:endParaRPr>
                    </a:p>
                  </a:txBody>
                  <a:tcPr marL="28575" marR="28575" marT="22225" marB="22225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18045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11D3C52-D36E-B5D8-1B74-D1C2DD62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ED49AB9E-48D7-E2B7-2537-BD7A755A5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6173"/>
            <a:ext cx="848531" cy="193553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7257B91C-B786-81AC-ADAC-261E92165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43" y="386289"/>
            <a:ext cx="5322298" cy="329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F46CD3E4-EC7E-D110-993A-6658A5C51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3323" y="391785"/>
            <a:ext cx="1692234" cy="329894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0" y="957532"/>
            <a:ext cx="12192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Фонд оценочных средств </a:t>
            </a:r>
            <a:r>
              <a:rPr lang="ru-RU" b="1" dirty="0" smtClean="0"/>
              <a:t>дисциплины</a:t>
            </a:r>
          </a:p>
          <a:p>
            <a:endParaRPr lang="ru-RU" b="1" dirty="0" smtClean="0"/>
          </a:p>
          <a:p>
            <a:r>
              <a:rPr lang="ru-RU" b="1" dirty="0" smtClean="0"/>
              <a:t>Цель ФОС</a:t>
            </a:r>
            <a:r>
              <a:rPr lang="ru-RU" dirty="0" smtClean="0"/>
              <a:t> — оценить </a:t>
            </a:r>
            <a:r>
              <a:rPr lang="ru-RU" dirty="0" err="1" smtClean="0"/>
              <a:t>сформированность</a:t>
            </a:r>
            <a:r>
              <a:rPr lang="ru-RU" dirty="0" smtClean="0"/>
              <a:t> компетенций </a:t>
            </a:r>
            <a:r>
              <a:rPr lang="ru-RU" b="1" dirty="0" smtClean="0"/>
              <a:t>ML </a:t>
            </a:r>
            <a:r>
              <a:rPr lang="ru-RU" b="1" dirty="0" err="1" smtClean="0"/>
              <a:t>Engineer</a:t>
            </a:r>
            <a:r>
              <a:rPr lang="ru-RU" b="1" dirty="0" smtClean="0"/>
              <a:t>, AI </a:t>
            </a:r>
            <a:r>
              <a:rPr lang="ru-RU" b="1" dirty="0" err="1" smtClean="0"/>
              <a:t>Architect</a:t>
            </a:r>
            <a:r>
              <a:rPr lang="ru-RU" b="1" dirty="0" smtClean="0"/>
              <a:t> и </a:t>
            </a:r>
            <a:r>
              <a:rPr lang="ru-RU" b="1" dirty="0" err="1" smtClean="0"/>
              <a:t>Data</a:t>
            </a:r>
            <a:r>
              <a:rPr lang="ru-RU" b="1" dirty="0" smtClean="0"/>
              <a:t> </a:t>
            </a:r>
            <a:r>
              <a:rPr lang="ru-RU" b="1" dirty="0" err="1" smtClean="0"/>
              <a:t>Engineer</a:t>
            </a:r>
            <a:r>
              <a:rPr lang="ru-RU" dirty="0" smtClean="0"/>
              <a:t> при создании прикладной ИИ-системы умного дома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b="1" dirty="0" smtClean="0"/>
              <a:t>Основные оценочные средства:</a:t>
            </a:r>
            <a:r>
              <a:rPr lang="ru-RU" dirty="0" smtClean="0"/>
              <a:t> архитектурный кейс, практические работы с сенсорными данными и моделями ИИ, </a:t>
            </a:r>
            <a:r>
              <a:rPr lang="ru-RU" dirty="0" err="1" smtClean="0"/>
              <a:t>Edge</a:t>
            </a:r>
            <a:r>
              <a:rPr lang="ru-RU" dirty="0" smtClean="0"/>
              <a:t> AI и интеграция с </a:t>
            </a:r>
            <a:r>
              <a:rPr lang="ru-RU" dirty="0" err="1" smtClean="0"/>
              <a:t>Home</a:t>
            </a:r>
            <a:r>
              <a:rPr lang="ru-RU" dirty="0" smtClean="0"/>
              <a:t> </a:t>
            </a:r>
            <a:r>
              <a:rPr lang="ru-RU" dirty="0" err="1" smtClean="0"/>
              <a:t>Assistant</a:t>
            </a:r>
            <a:r>
              <a:rPr lang="ru-RU" dirty="0" smtClean="0"/>
              <a:t>, </a:t>
            </a:r>
            <a:r>
              <a:rPr lang="ru-RU" dirty="0" err="1" smtClean="0"/>
              <a:t>peer-review</a:t>
            </a:r>
            <a:r>
              <a:rPr lang="ru-RU" dirty="0" smtClean="0"/>
              <a:t>, экзамен и защита проекта. </a:t>
            </a:r>
          </a:p>
          <a:p>
            <a:endParaRPr lang="ru-RU" b="1" dirty="0" smtClean="0"/>
          </a:p>
          <a:p>
            <a:r>
              <a:rPr lang="ru-RU" b="1" dirty="0" smtClean="0"/>
              <a:t>Ключевой </a:t>
            </a:r>
            <a:r>
              <a:rPr lang="ru-RU" b="1" dirty="0" smtClean="0"/>
              <a:t>результат:</a:t>
            </a:r>
            <a:r>
              <a:rPr lang="ru-RU" dirty="0" smtClean="0"/>
              <a:t> работающий прототип полного цикла</a:t>
            </a:r>
            <a:br>
              <a:rPr lang="ru-RU" dirty="0" smtClean="0"/>
            </a:br>
            <a:r>
              <a:rPr lang="ru-RU" b="1" dirty="0" smtClean="0"/>
              <a:t>«сенсор → данные → модель ИИ → решение → физическое или симулированное действие»</a:t>
            </a:r>
            <a:r>
              <a:rPr lang="ru-RU" dirty="0" smtClean="0"/>
              <a:t>. </a:t>
            </a:r>
          </a:p>
          <a:p>
            <a:endParaRPr lang="ru-RU" b="1" dirty="0" smtClean="0"/>
          </a:p>
          <a:p>
            <a:r>
              <a:rPr lang="ru-RU" b="1" dirty="0" smtClean="0"/>
              <a:t>Артефакты </a:t>
            </a:r>
            <a:r>
              <a:rPr lang="ru-RU" b="1" dirty="0" smtClean="0"/>
              <a:t>проекта:</a:t>
            </a:r>
            <a:r>
              <a:rPr lang="ru-RU" dirty="0" smtClean="0"/>
              <a:t> </a:t>
            </a:r>
            <a:r>
              <a:rPr lang="ru-RU" dirty="0" err="1" smtClean="0"/>
              <a:t>Git-репозиторий</a:t>
            </a:r>
            <a:r>
              <a:rPr lang="ru-RU" dirty="0" smtClean="0"/>
              <a:t>, код и инструкции запуска, архитектурная схема, описание данных и модели, результаты испытаний, паспорт рисков и отчёт об использовании ИИ. </a:t>
            </a:r>
            <a:endParaRPr lang="ru-RU" dirty="0" smtClean="0"/>
          </a:p>
          <a:p>
            <a:endParaRPr lang="ru-RU" dirty="0" smtClean="0"/>
          </a:p>
          <a:p>
            <a:r>
              <a:rPr lang="ru-RU" b="1" dirty="0" smtClean="0"/>
              <a:t>Оценивание ведётся по </a:t>
            </a:r>
            <a:r>
              <a:rPr lang="ru-RU" b="1" dirty="0" smtClean="0"/>
              <a:t>качеству </a:t>
            </a:r>
            <a:r>
              <a:rPr lang="ru-RU" b="1" dirty="0" smtClean="0"/>
              <a:t>инженерного решения</a:t>
            </a:r>
            <a:r>
              <a:rPr lang="ru-RU" dirty="0" smtClean="0"/>
              <a:t> и </a:t>
            </a:r>
            <a:r>
              <a:rPr lang="ru-RU" b="1" dirty="0" smtClean="0"/>
              <a:t>качеству </a:t>
            </a:r>
            <a:r>
              <a:rPr lang="ru-RU" b="1" dirty="0" smtClean="0"/>
              <a:t>документации и </a:t>
            </a:r>
            <a:r>
              <a:rPr lang="ru-RU" b="1" dirty="0" smtClean="0"/>
              <a:t>доказательств</a:t>
            </a:r>
            <a:r>
              <a:rPr lang="ru-RU" dirty="0" smtClean="0"/>
              <a:t>. </a:t>
            </a:r>
          </a:p>
          <a:p>
            <a:endParaRPr lang="ru-RU" dirty="0" smtClean="0"/>
          </a:p>
          <a:p>
            <a:r>
              <a:rPr lang="ru-RU" dirty="0" smtClean="0"/>
              <a:t>Каждая ключевая компетенция проверяется </a:t>
            </a:r>
            <a:r>
              <a:rPr lang="ru-RU" b="1" dirty="0" smtClean="0"/>
              <a:t>не менее чем двумя оценочными средствами</a:t>
            </a:r>
            <a:r>
              <a:rPr lang="ru-RU" dirty="0" smtClean="0"/>
              <a:t>, а итоговая защита включает </a:t>
            </a:r>
            <a:r>
              <a:rPr lang="ru-RU" dirty="0" smtClean="0"/>
              <a:t>демонстрацию и обоснование </a:t>
            </a:r>
            <a:r>
              <a:rPr lang="ru-RU" dirty="0" smtClean="0"/>
              <a:t>решений, анализ ошибок и безопасность управления.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042405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11D3C52-D36E-B5D8-1B74-D1C2DD62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ED49AB9E-48D7-E2B7-2537-BD7A755A5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6173"/>
            <a:ext cx="848531" cy="19355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F14C6743-F301-E900-1780-71324529E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175" y="1531743"/>
            <a:ext cx="3950825" cy="554262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57A99AA-9194-4CB0-7B95-EC429B313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443" y="1867175"/>
            <a:ext cx="9144000" cy="1714723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>
                <a:solidFill>
                  <a:srgbClr val="014189"/>
                </a:solidFill>
              </a:rPr>
              <a:t>Спасибо</a:t>
            </a:r>
            <a:br>
              <a:rPr lang="ru-RU" dirty="0">
                <a:solidFill>
                  <a:srgbClr val="014189"/>
                </a:solidFill>
              </a:rPr>
            </a:br>
            <a:r>
              <a:rPr lang="ru-RU" dirty="0">
                <a:solidFill>
                  <a:srgbClr val="014189"/>
                </a:solidFill>
              </a:rPr>
              <a:t>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C6EB930A-16BD-7DC1-CCCA-29C950911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443" y="3822096"/>
            <a:ext cx="9144000" cy="658857"/>
          </a:xfrm>
        </p:spPr>
        <p:txBody>
          <a:bodyPr>
            <a:normAutofit/>
          </a:bodyPr>
          <a:lstStyle/>
          <a:p>
            <a:pPr algn="l"/>
            <a:r>
              <a:rPr lang="ru-RU" sz="2000" dirty="0" smtClean="0">
                <a:solidFill>
                  <a:srgbClr val="014189"/>
                </a:solidFill>
              </a:rPr>
              <a:t>Контакт: 8 902 992 17-74; </a:t>
            </a:r>
            <a:r>
              <a:rPr lang="en-US" sz="2000" dirty="0" smtClean="0">
                <a:solidFill>
                  <a:srgbClr val="014189"/>
                </a:solidFill>
              </a:rPr>
              <a:t>usachev</a:t>
            </a:r>
            <a:r>
              <a:rPr lang="en-US" sz="2000" dirty="0" smtClean="0">
                <a:solidFill>
                  <a:srgbClr val="014189"/>
                </a:solidFill>
              </a:rPr>
              <a:t>-av@rudn.ru</a:t>
            </a:r>
            <a:endParaRPr lang="ru-RU" sz="2000" dirty="0" smtClean="0">
              <a:solidFill>
                <a:srgbClr val="014189"/>
              </a:solidFill>
            </a:endParaRPr>
          </a:p>
          <a:p>
            <a:pPr algn="l"/>
            <a:endParaRPr lang="ru-RU" sz="2000" dirty="0">
              <a:solidFill>
                <a:srgbClr val="014189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7257B91C-B786-81AC-ADAC-261E92165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43" y="386289"/>
            <a:ext cx="5322298" cy="329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F46CD3E4-EC7E-D110-993A-6658A5C51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323" y="391785"/>
            <a:ext cx="1692234" cy="32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42405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1601"/>
            <a:ext cx="10400142" cy="878761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Трудовые функции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xmlns="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xmlns="" id="{3D0B2A8C-4966-E62C-16D2-22E73CF8EC6E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xmlns="" id="{9AADBFA8-E093-0533-CD21-19F4ECA7B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63710"/>
            <a:ext cx="10400141" cy="411325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400" b="1" dirty="0" smtClean="0"/>
              <a:t>ML </a:t>
            </a:r>
            <a:r>
              <a:rPr lang="ru-RU" sz="2400" b="1" dirty="0" err="1" smtClean="0"/>
              <a:t>Engineer</a:t>
            </a:r>
            <a:endParaRPr lang="ru-RU" sz="2400" b="1" dirty="0" smtClean="0"/>
          </a:p>
          <a:p>
            <a:pPr>
              <a:buNone/>
            </a:pPr>
            <a:r>
              <a:rPr lang="ru-RU" sz="2400" dirty="0" smtClean="0"/>
              <a:t> Код           Трудовая функция</a:t>
            </a:r>
          </a:p>
          <a:p>
            <a:pPr>
              <a:buNone/>
            </a:pPr>
            <a:r>
              <a:rPr lang="ru-RU" sz="2400" b="1" dirty="0" smtClean="0"/>
              <a:t>ТФ-MLE-1 </a:t>
            </a:r>
            <a:r>
              <a:rPr lang="ru-RU" sz="2400" dirty="0" smtClean="0"/>
              <a:t>Формализует </a:t>
            </a:r>
            <a:r>
              <a:rPr lang="ru-RU" sz="2400" dirty="0" smtClean="0"/>
              <a:t>бытовой или инженерный сценарий как задачу машинного </a:t>
            </a:r>
            <a:r>
              <a:rPr lang="ru-RU" sz="2400" dirty="0" smtClean="0"/>
              <a:t>обучения</a:t>
            </a:r>
          </a:p>
          <a:p>
            <a:pPr>
              <a:buNone/>
            </a:pPr>
            <a:r>
              <a:rPr lang="ru-RU" sz="2400" b="1" dirty="0" smtClean="0"/>
              <a:t>ТФ-MLE-2 </a:t>
            </a:r>
            <a:r>
              <a:rPr lang="ru-RU" sz="2400" dirty="0" smtClean="0"/>
              <a:t>Разрабатывает </a:t>
            </a:r>
            <a:r>
              <a:rPr lang="ru-RU" sz="2400" dirty="0" smtClean="0"/>
              <a:t>базовое решение и выбирает подходящий класс </a:t>
            </a:r>
            <a:r>
              <a:rPr lang="ru-RU" sz="2400" dirty="0" smtClean="0"/>
              <a:t>моделей</a:t>
            </a:r>
          </a:p>
          <a:p>
            <a:pPr>
              <a:buNone/>
            </a:pPr>
            <a:r>
              <a:rPr lang="ru-RU" sz="2400" b="1" dirty="0" smtClean="0"/>
              <a:t>ТФ-MLE-3 </a:t>
            </a:r>
            <a:r>
              <a:rPr lang="ru-RU" sz="2400" dirty="0" smtClean="0"/>
              <a:t>Обучает</a:t>
            </a:r>
            <a:r>
              <a:rPr lang="ru-RU" sz="2400" dirty="0" smtClean="0"/>
              <a:t>, адаптирует и </a:t>
            </a:r>
            <a:r>
              <a:rPr lang="ru-RU" sz="2400" dirty="0" err="1" smtClean="0"/>
              <a:t>валидирует</a:t>
            </a:r>
            <a:r>
              <a:rPr lang="ru-RU" sz="2400" dirty="0" smtClean="0"/>
              <a:t> </a:t>
            </a:r>
            <a:r>
              <a:rPr lang="ru-RU" sz="2400" dirty="0" smtClean="0"/>
              <a:t>модель</a:t>
            </a:r>
          </a:p>
          <a:p>
            <a:pPr>
              <a:buNone/>
            </a:pPr>
            <a:r>
              <a:rPr lang="ru-RU" sz="2400" b="1" dirty="0" smtClean="0"/>
              <a:t>ТФ-MLE-4 </a:t>
            </a:r>
            <a:r>
              <a:rPr lang="ru-RU" sz="2400" dirty="0" smtClean="0"/>
              <a:t>Анализирует </a:t>
            </a:r>
            <a:r>
              <a:rPr lang="ru-RU" sz="2400" dirty="0" smtClean="0"/>
              <a:t>ошибки и определяет допустимую область применения </a:t>
            </a:r>
            <a:r>
              <a:rPr lang="ru-RU" sz="2400" dirty="0" smtClean="0"/>
              <a:t>модели</a:t>
            </a:r>
          </a:p>
          <a:p>
            <a:pPr>
              <a:buNone/>
            </a:pPr>
            <a:r>
              <a:rPr lang="ru-RU" sz="2400" b="1" dirty="0" smtClean="0"/>
              <a:t>ТФ-MLE-5 </a:t>
            </a:r>
            <a:r>
              <a:rPr lang="ru-RU" sz="2400" dirty="0" smtClean="0"/>
              <a:t>Интегрирует </a:t>
            </a:r>
            <a:r>
              <a:rPr lang="ru-RU" sz="2400" dirty="0" smtClean="0"/>
              <a:t>модель в платформу умного дома, Edge-устройство, робота или симулятор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218045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1601"/>
            <a:ext cx="10400142" cy="878761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Трудовые функции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xmlns="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xmlns="" id="{3D0B2A8C-4966-E62C-16D2-22E73CF8EC6E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xmlns="" id="{9AADBFA8-E093-0533-CD21-19F4ECA7B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63710"/>
            <a:ext cx="10400141" cy="411325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 err="1" smtClean="0"/>
              <a:t>Data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Engineer</a:t>
            </a:r>
            <a:endParaRPr lang="ru-RU" sz="2400" b="1" dirty="0" smtClean="0"/>
          </a:p>
          <a:p>
            <a:pPr>
              <a:buNone/>
            </a:pPr>
            <a:r>
              <a:rPr lang="ru-RU" sz="2400" dirty="0" smtClean="0"/>
              <a:t>Код          Трудовая функция</a:t>
            </a:r>
          </a:p>
          <a:p>
            <a:pPr>
              <a:buNone/>
            </a:pPr>
            <a:r>
              <a:rPr lang="ru-RU" sz="2400" b="1" dirty="0" smtClean="0"/>
              <a:t>ТФ-DE-1 </a:t>
            </a:r>
            <a:r>
              <a:rPr lang="ru-RU" sz="2400" dirty="0" smtClean="0"/>
              <a:t>Определяет </a:t>
            </a:r>
            <a:r>
              <a:rPr lang="ru-RU" sz="2400" dirty="0" smtClean="0"/>
              <a:t>требования к источникам сенсорных </a:t>
            </a:r>
            <a:r>
              <a:rPr lang="ru-RU" sz="2400" dirty="0" smtClean="0"/>
              <a:t>данных</a:t>
            </a:r>
          </a:p>
          <a:p>
            <a:pPr>
              <a:buNone/>
            </a:pPr>
            <a:r>
              <a:rPr lang="ru-RU" sz="2400" b="1" dirty="0" smtClean="0"/>
              <a:t>ТФ-DE-2 </a:t>
            </a:r>
            <a:r>
              <a:rPr lang="ru-RU" sz="2400" dirty="0" smtClean="0"/>
              <a:t>Организует </a:t>
            </a:r>
            <a:r>
              <a:rPr lang="ru-RU" sz="2400" dirty="0" smtClean="0"/>
              <a:t>получение и передачу потоковой </a:t>
            </a:r>
            <a:r>
              <a:rPr lang="ru-RU" sz="2400" dirty="0" smtClean="0"/>
              <a:t>телеметрии</a:t>
            </a:r>
          </a:p>
          <a:p>
            <a:pPr>
              <a:buNone/>
            </a:pPr>
            <a:r>
              <a:rPr lang="ru-RU" sz="2400" b="1" dirty="0" smtClean="0"/>
              <a:t>ТФ-DE-3 </a:t>
            </a:r>
            <a:r>
              <a:rPr lang="ru-RU" sz="2400" dirty="0" smtClean="0"/>
              <a:t>Выполняет </a:t>
            </a:r>
            <a:r>
              <a:rPr lang="ru-RU" sz="2400" dirty="0" smtClean="0"/>
              <a:t>очистку, синхронизацию и преобразование </a:t>
            </a:r>
            <a:r>
              <a:rPr lang="ru-RU" sz="2400" dirty="0" smtClean="0"/>
              <a:t>данных</a:t>
            </a:r>
          </a:p>
          <a:p>
            <a:pPr>
              <a:buNone/>
            </a:pPr>
            <a:r>
              <a:rPr lang="ru-RU" sz="2400" b="1" dirty="0" smtClean="0"/>
              <a:t>ТФ-DE-4 </a:t>
            </a:r>
            <a:r>
              <a:rPr lang="ru-RU" sz="2400" dirty="0" smtClean="0"/>
              <a:t>Контролирует </a:t>
            </a:r>
            <a:r>
              <a:rPr lang="ru-RU" sz="2400" dirty="0" smtClean="0"/>
              <a:t>качество, полноту и </a:t>
            </a:r>
            <a:r>
              <a:rPr lang="ru-RU" sz="2400" dirty="0" err="1" smtClean="0"/>
              <a:t>воспроизводимость</a:t>
            </a:r>
            <a:r>
              <a:rPr lang="ru-RU" sz="2400" dirty="0" smtClean="0"/>
              <a:t> набора </a:t>
            </a:r>
            <a:r>
              <a:rPr lang="ru-RU" sz="2400" dirty="0" smtClean="0"/>
              <a:t>данных</a:t>
            </a:r>
          </a:p>
          <a:p>
            <a:pPr>
              <a:buNone/>
            </a:pPr>
            <a:r>
              <a:rPr lang="ru-RU" sz="2400" b="1" dirty="0" smtClean="0"/>
              <a:t>ТФ-DE-5 </a:t>
            </a:r>
            <a:r>
              <a:rPr lang="ru-RU" sz="2400" dirty="0" smtClean="0"/>
              <a:t>Обеспечивает </a:t>
            </a:r>
            <a:r>
              <a:rPr lang="ru-RU" sz="2400" dirty="0" smtClean="0"/>
              <a:t>передачу подготовленных данных ИИ-компоненту</a:t>
            </a:r>
          </a:p>
          <a:p>
            <a:endParaRPr lang="ru-RU" sz="2400" dirty="0" smtClean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218045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1601"/>
            <a:ext cx="10400142" cy="878761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Трудовые функции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xmlns="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xmlns="" id="{3D0B2A8C-4966-E62C-16D2-22E73CF8EC6E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xmlns="" id="{9AADBFA8-E093-0533-CD21-19F4ECA7B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63710"/>
            <a:ext cx="10400141" cy="411325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sz="2400" b="1" dirty="0" smtClean="0"/>
              <a:t>AI </a:t>
            </a:r>
            <a:r>
              <a:rPr lang="ru-RU" sz="2400" b="1" dirty="0" err="1" smtClean="0"/>
              <a:t>Architect</a:t>
            </a:r>
            <a:endParaRPr lang="ru-RU" sz="2400" b="1" dirty="0" smtClean="0"/>
          </a:p>
          <a:p>
            <a:pPr>
              <a:buNone/>
            </a:pPr>
            <a:r>
              <a:rPr lang="ru-RU" sz="2400" dirty="0" smtClean="0"/>
              <a:t>	Код          Трудовая функция</a:t>
            </a:r>
          </a:p>
          <a:p>
            <a:r>
              <a:rPr lang="ru-RU" sz="2400" b="1" dirty="0" smtClean="0"/>
              <a:t>ТФ-AIA-1 </a:t>
            </a:r>
            <a:r>
              <a:rPr lang="ru-RU" sz="2400" dirty="0" smtClean="0"/>
              <a:t>Анализирует </a:t>
            </a:r>
            <a:r>
              <a:rPr lang="ru-RU" sz="2400" dirty="0" smtClean="0"/>
              <a:t>пользовательский сценарий и определяет границы интеллектуальной </a:t>
            </a:r>
            <a:r>
              <a:rPr lang="ru-RU" sz="2400" dirty="0" smtClean="0"/>
              <a:t>системы</a:t>
            </a:r>
          </a:p>
          <a:p>
            <a:r>
              <a:rPr lang="ru-RU" sz="2400" b="1" dirty="0" smtClean="0"/>
              <a:t>ТФ-AIA-2 </a:t>
            </a:r>
            <a:r>
              <a:rPr lang="ru-RU" sz="2400" dirty="0" smtClean="0"/>
              <a:t>Проектирует </a:t>
            </a:r>
            <a:r>
              <a:rPr lang="ru-RU" sz="2400" dirty="0" smtClean="0"/>
              <a:t>архитектуру «сенсор </a:t>
            </a:r>
            <a:r>
              <a:rPr lang="ru-RU" sz="2400" dirty="0" smtClean="0"/>
              <a:t>- </a:t>
            </a:r>
            <a:r>
              <a:rPr lang="ru-RU" sz="2400" dirty="0" smtClean="0"/>
              <a:t>данные </a:t>
            </a:r>
            <a:r>
              <a:rPr lang="ru-RU" sz="2400" dirty="0" smtClean="0"/>
              <a:t>- </a:t>
            </a:r>
            <a:r>
              <a:rPr lang="ru-RU" sz="2400" dirty="0" smtClean="0"/>
              <a:t>модель </a:t>
            </a:r>
            <a:r>
              <a:rPr lang="ru-RU" sz="2400" dirty="0" smtClean="0"/>
              <a:t>- </a:t>
            </a:r>
            <a:r>
              <a:rPr lang="ru-RU" sz="2400" dirty="0" smtClean="0"/>
              <a:t>решение </a:t>
            </a:r>
            <a:r>
              <a:rPr lang="ru-RU" sz="2400" dirty="0" smtClean="0"/>
              <a:t>- </a:t>
            </a:r>
            <a:r>
              <a:rPr lang="ru-RU" sz="2400" dirty="0" smtClean="0"/>
              <a:t>исполнительное устройство</a:t>
            </a:r>
            <a:r>
              <a:rPr lang="ru-RU" sz="2400" dirty="0" smtClean="0"/>
              <a:t>»</a:t>
            </a:r>
          </a:p>
          <a:p>
            <a:r>
              <a:rPr lang="ru-RU" sz="2400" b="1" dirty="0" smtClean="0"/>
              <a:t>ТФ-AIA-3 </a:t>
            </a:r>
            <a:r>
              <a:rPr lang="ru-RU" sz="2400" dirty="0" smtClean="0"/>
              <a:t>Выбирает </a:t>
            </a:r>
            <a:r>
              <a:rPr lang="ru-RU" sz="2400" dirty="0" smtClean="0"/>
              <a:t>размещение вычислений: устройство, </a:t>
            </a:r>
            <a:r>
              <a:rPr lang="ru-RU" sz="2400" dirty="0" err="1" smtClean="0"/>
              <a:t>Edge</a:t>
            </a:r>
            <a:r>
              <a:rPr lang="ru-RU" sz="2400" dirty="0" smtClean="0"/>
              <a:t>, </a:t>
            </a:r>
            <a:r>
              <a:rPr lang="ru-RU" sz="2400" dirty="0" err="1" smtClean="0"/>
              <a:t>Fog</a:t>
            </a:r>
            <a:r>
              <a:rPr lang="ru-RU" sz="2400" dirty="0" smtClean="0"/>
              <a:t> или </a:t>
            </a:r>
            <a:r>
              <a:rPr lang="ru-RU" sz="2400" dirty="0" err="1" smtClean="0"/>
              <a:t>Cloud</a:t>
            </a:r>
            <a:endParaRPr lang="ru-RU" sz="2400" dirty="0" smtClean="0"/>
          </a:p>
          <a:p>
            <a:r>
              <a:rPr lang="ru-RU" sz="2400" b="1" dirty="0" smtClean="0"/>
              <a:t>ТФ-AIA-4 </a:t>
            </a:r>
            <a:r>
              <a:rPr lang="ru-RU" sz="2400" dirty="0" smtClean="0"/>
              <a:t>Интегрирует </a:t>
            </a:r>
            <a:r>
              <a:rPr lang="ru-RU" sz="2400" dirty="0" smtClean="0"/>
              <a:t>ИИ-компоненты, системы автоматизации и домашние робототехнические </a:t>
            </a:r>
            <a:r>
              <a:rPr lang="ru-RU" sz="2400" dirty="0" smtClean="0"/>
              <a:t>устройства</a:t>
            </a:r>
          </a:p>
          <a:p>
            <a:r>
              <a:rPr lang="ru-RU" sz="2400" b="1" dirty="0" smtClean="0"/>
              <a:t>ТФ-AIA-5 </a:t>
            </a:r>
            <a:r>
              <a:rPr lang="ru-RU" sz="2400" dirty="0" smtClean="0"/>
              <a:t>Учитывает </a:t>
            </a:r>
            <a:r>
              <a:rPr lang="ru-RU" sz="2400" dirty="0" smtClean="0"/>
              <a:t>нефункциональные требования: задержку, надёжность, энергопотребление, приватность и безопасность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2180458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2158</Words>
  <Application>Microsoft Office PowerPoint</Application>
  <PresentationFormat>Произвольный</PresentationFormat>
  <Paragraphs>406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Прикладной искусственный интеллект в системах умного дома</vt:lpstr>
      <vt:lpstr>Цель: Обучающийся должен быть способен в составе междисциплинарной команды самостоятельно спроектировать, реализовать и проверить прототип интеллектуальной функции умного дома, включающий получение сенсорных данных, применение модели ИИ, интеграцию с исполнительным устройством или домашним роботом, оценку качества и обеспечение безопасного контроля человеком. </vt:lpstr>
      <vt:lpstr>Слайд 3</vt:lpstr>
      <vt:lpstr>Слайд 4</vt:lpstr>
      <vt:lpstr>Слайд 5</vt:lpstr>
      <vt:lpstr>Слайд 6</vt:lpstr>
      <vt:lpstr>Слайд 7</vt:lpstr>
      <vt:lpstr>Слайд 8</vt:lpstr>
      <vt:lpstr>Спасибо за внимание!</vt:lpstr>
      <vt:lpstr>Трудовые функции</vt:lpstr>
      <vt:lpstr>Трудовые функции</vt:lpstr>
      <vt:lpstr>Трудовые функции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Прикладной искусственный интеллект в системах умного дома</dc:title>
  <dc:creator>Будуева Ольга Олеговна</dc:creator>
  <cp:lastModifiedBy>Александр Усачев</cp:lastModifiedBy>
  <cp:revision>5</cp:revision>
  <dcterms:created xsi:type="dcterms:W3CDTF">2026-06-15T11:15:35Z</dcterms:created>
  <dcterms:modified xsi:type="dcterms:W3CDTF">2026-07-15T09:37:29Z</dcterms:modified>
</cp:coreProperties>
</file>